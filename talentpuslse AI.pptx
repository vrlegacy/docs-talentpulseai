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6" r:id="rId17"/>
    <p:sldId id="285" r:id="rId18"/>
    <p:sldId id="284" r:id="rId19"/>
    <p:sldId id="288" r:id="rId20"/>
    <p:sldId id="287" r:id="rId21"/>
    <p:sldId id="272" r:id="rId22"/>
    <p:sldId id="289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850FDB-1C4D-4DEF-9C63-5C6EC90004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details supplied by the presenter.</a:t>
            </a:r>
          </a:p>
        </p:txBody>
      </p:sp>
      <p:sp>
        <p:nvSpPr>
          <p:cNvPr id="28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6E7F-9743-9A6F-AF4A-17D0A486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>
            <a:extLst>
              <a:ext uri="{FF2B5EF4-FFF2-40B4-BE49-F238E27FC236}">
                <a16:creationId xmlns:a16="http://schemas.microsoft.com/office/drawing/2014/main" id="{14DEDD44-A10F-FE5B-68B9-9B8F9BF6D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>
            <a:extLst>
              <a:ext uri="{FF2B5EF4-FFF2-40B4-BE49-F238E27FC236}">
                <a16:creationId xmlns:a16="http://schemas.microsoft.com/office/drawing/2014/main" id="{C4C393C7-2F0D-83D0-59E9-DC33AAF6A02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>
            <a:extLst>
              <a:ext uri="{FF2B5EF4-FFF2-40B4-BE49-F238E27FC236}">
                <a16:creationId xmlns:a16="http://schemas.microsoft.com/office/drawing/2014/main" id="{8E22466B-EC12-8CBC-DC12-26019DB448FA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2750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5D5D-D355-E258-61D8-C2CF62DB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>
            <a:extLst>
              <a:ext uri="{FF2B5EF4-FFF2-40B4-BE49-F238E27FC236}">
                <a16:creationId xmlns:a16="http://schemas.microsoft.com/office/drawing/2014/main" id="{82D972FE-C848-0F64-D442-8E2417E0C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>
            <a:extLst>
              <a:ext uri="{FF2B5EF4-FFF2-40B4-BE49-F238E27FC236}">
                <a16:creationId xmlns:a16="http://schemas.microsoft.com/office/drawing/2014/main" id="{FDCEA674-9D8A-FF60-A7B5-F0E803A56A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>
            <a:extLst>
              <a:ext uri="{FF2B5EF4-FFF2-40B4-BE49-F238E27FC236}">
                <a16:creationId xmlns:a16="http://schemas.microsoft.com/office/drawing/2014/main" id="{DC00AC05-5C37-1D97-1234-6BA07327A3B5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864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6B3B-7901-695C-4B48-A75B2CFB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>
            <a:extLst>
              <a:ext uri="{FF2B5EF4-FFF2-40B4-BE49-F238E27FC236}">
                <a16:creationId xmlns:a16="http://schemas.microsoft.com/office/drawing/2014/main" id="{C7E462F2-25CB-CCBD-D789-ACC45BE2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>
            <a:extLst>
              <a:ext uri="{FF2B5EF4-FFF2-40B4-BE49-F238E27FC236}">
                <a16:creationId xmlns:a16="http://schemas.microsoft.com/office/drawing/2014/main" id="{3B63A45D-136F-0B34-2528-3A0B11959A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>
            <a:extLst>
              <a:ext uri="{FF2B5EF4-FFF2-40B4-BE49-F238E27FC236}">
                <a16:creationId xmlns:a16="http://schemas.microsoft.com/office/drawing/2014/main" id="{FDCDCA66-3B76-927F-155A-30007FB0C0ED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51923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BA0F8-B597-87BE-89F1-16528ED3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>
            <a:extLst>
              <a:ext uri="{FF2B5EF4-FFF2-40B4-BE49-F238E27FC236}">
                <a16:creationId xmlns:a16="http://schemas.microsoft.com/office/drawing/2014/main" id="{6249FFBE-6A18-2701-C20B-5A2A3FAEE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>
            <a:extLst>
              <a:ext uri="{FF2B5EF4-FFF2-40B4-BE49-F238E27FC236}">
                <a16:creationId xmlns:a16="http://schemas.microsoft.com/office/drawing/2014/main" id="{9456DA5F-EB24-7972-D22E-4CF38A2D170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>
            <a:extLst>
              <a:ext uri="{FF2B5EF4-FFF2-40B4-BE49-F238E27FC236}">
                <a16:creationId xmlns:a16="http://schemas.microsoft.com/office/drawing/2014/main" id="{60C92A06-6E93-63DD-DE27-733E8DD8062E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0633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CCBD-AFD9-2ABF-DF7F-9F8C5B88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>
            <a:extLst>
              <a:ext uri="{FF2B5EF4-FFF2-40B4-BE49-F238E27FC236}">
                <a16:creationId xmlns:a16="http://schemas.microsoft.com/office/drawing/2014/main" id="{362F82EE-E205-43C9-A9EC-E4832EC7A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>
            <a:extLst>
              <a:ext uri="{FF2B5EF4-FFF2-40B4-BE49-F238E27FC236}">
                <a16:creationId xmlns:a16="http://schemas.microsoft.com/office/drawing/2014/main" id="{A65322DC-EC88-BE88-6934-640ACB0A265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>
            <a:extLst>
              <a:ext uri="{FF2B5EF4-FFF2-40B4-BE49-F238E27FC236}">
                <a16:creationId xmlns:a16="http://schemas.microsoft.com/office/drawing/2014/main" id="{D68833F9-5EFF-BCF8-C1E0-90F04A1BBD87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3642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alentpulse-vishwas.slicearrow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9"/>
          <p:cNvSpPr/>
          <p:nvPr/>
        </p:nvSpPr>
        <p:spPr>
          <a:xfrm>
            <a:off x="9226440" y="-857160"/>
            <a:ext cx="4095000" cy="4095000"/>
          </a:xfrm>
          <a:prstGeom prst="ellipse">
            <a:avLst/>
          </a:prstGeom>
          <a:solidFill>
            <a:srgbClr val="2A60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Oval 1"/>
          <p:cNvSpPr/>
          <p:nvPr/>
        </p:nvSpPr>
        <p:spPr>
          <a:xfrm>
            <a:off x="9543960" y="2854080"/>
            <a:ext cx="3965040" cy="436860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781200" y="1817135"/>
            <a:ext cx="3714120" cy="44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RAISE INTERNSHIP · FINAL PROJECT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781200" y="905040"/>
            <a:ext cx="6666840" cy="41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7"/>
          <p:cNvSpPr/>
          <p:nvPr/>
        </p:nvSpPr>
        <p:spPr>
          <a:xfrm>
            <a:off x="704880" y="5086440"/>
            <a:ext cx="476172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Vishwas Rudramurthy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angle 8"/>
          <p:cNvSpPr/>
          <p:nvPr/>
        </p:nvSpPr>
        <p:spPr>
          <a:xfrm>
            <a:off x="704880" y="5429160"/>
            <a:ext cx="476172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RAISE Intern , REDSEER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3"/>
          <a:stretch/>
        </p:blipFill>
        <p:spPr>
          <a:xfrm>
            <a:off x="5245200" y="3170160"/>
            <a:ext cx="1723320" cy="5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18"/>
          <p:cNvPicPr/>
          <p:nvPr/>
        </p:nvPicPr>
        <p:blipFill>
          <a:blip r:embed="rId3"/>
          <a:stretch/>
        </p:blipFill>
        <p:spPr>
          <a:xfrm>
            <a:off x="5245200" y="3170160"/>
            <a:ext cx="1723320" cy="5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9"/>
          <p:cNvPicPr/>
          <p:nvPr/>
        </p:nvPicPr>
        <p:blipFill>
          <a:blip r:embed="rId3"/>
          <a:stretch/>
        </p:blipFill>
        <p:spPr>
          <a:xfrm>
            <a:off x="5245200" y="3170160"/>
            <a:ext cx="1723320" cy="5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20"/>
          <p:cNvPicPr/>
          <p:nvPr/>
        </p:nvPicPr>
        <p:blipFill>
          <a:blip r:embed="rId4"/>
          <a:stretch/>
        </p:blipFill>
        <p:spPr>
          <a:xfrm>
            <a:off x="686160" y="3497820"/>
            <a:ext cx="5257080" cy="108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21"/>
          <p:cNvPicPr/>
          <p:nvPr/>
        </p:nvPicPr>
        <p:blipFill>
          <a:blip r:embed="rId5"/>
          <a:stretch/>
        </p:blipFill>
        <p:spPr>
          <a:xfrm>
            <a:off x="6233299" y="2820021"/>
            <a:ext cx="2513621" cy="231900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5C407-4F0D-2162-5044-F182AC578856}"/>
              </a:ext>
            </a:extLst>
          </p:cNvPr>
          <p:cNvSpPr txBox="1"/>
          <p:nvPr/>
        </p:nvSpPr>
        <p:spPr>
          <a:xfrm>
            <a:off x="686160" y="5695200"/>
            <a:ext cx="675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https://talentpulse-vishwas.slicearrow.com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AD8AC-D8E6-1060-7E6D-56F153E5453B}"/>
              </a:ext>
            </a:extLst>
          </p:cNvPr>
          <p:cNvSpPr txBox="1"/>
          <p:nvPr/>
        </p:nvSpPr>
        <p:spPr>
          <a:xfrm>
            <a:off x="-455260" y="1024775"/>
            <a:ext cx="62788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0" u="none" strike="noStrike" dirty="0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5400" b="0" u="none" strike="noStrike" dirty="0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5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/>
          <p:nvPr/>
        </p:nvPicPr>
        <p:blipFill>
          <a:blip r:embed="rId3"/>
          <a:stretch/>
        </p:blipFill>
        <p:spPr>
          <a:xfrm>
            <a:off x="-492120" y="-158760"/>
            <a:ext cx="12906000" cy="7270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35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41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traight Connector 24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6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37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 38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traight Connector 2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9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40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46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traight Connector 5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47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48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49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traight Connector 6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50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5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5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traight Connector 8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53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54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55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traight Connector 12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6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57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 58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traight Connector 17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2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63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64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traight Connector 20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59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60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1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traight Connector 18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5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66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67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traight Connector 22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68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69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70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traight Connector 2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143000" y="1162080"/>
            <a:ext cx="11429640" cy="546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timezone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Candidate Ranking — Final stack-ranking to select the top candidate.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27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traight Connector 1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29"/>
          <p:cNvSpPr/>
          <p:nvPr/>
        </p:nvSpPr>
        <p:spPr>
          <a:xfrm>
            <a:off x="5029200" y="2057400"/>
            <a:ext cx="77720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Solution</a:t>
            </a:r>
            <a:br>
              <a:rPr sz="2400"/>
            </a:br>
            <a:r>
              <a:rPr lang="en-US" sz="196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1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2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3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4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traight Connector 28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143000" y="1162080"/>
            <a:ext cx="11429640" cy="562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Resume Screening — High volume of applicants and manual shortlisting friction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111111"/>
                </a:solidFill>
                <a:effectLst/>
                <a:uFillTx/>
                <a:latin typeface="Arial"/>
              </a:rPr>
              <a:t>Resource Allocation — Securing panel availability and technical environments.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timezone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Ranking — Final stack-ranking to select the top candidate.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4685C1-E195-B9B5-CDAF-4865B682BD57}"/>
              </a:ext>
            </a:extLst>
          </p:cNvPr>
          <p:cNvSpPr txBox="1"/>
          <p:nvPr/>
        </p:nvSpPr>
        <p:spPr>
          <a:xfrm>
            <a:off x="1430867" y="1171973"/>
            <a:ext cx="162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534EB-A958-7B0D-CD6F-0B0A0DD1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2">
            <a:extLst>
              <a:ext uri="{FF2B5EF4-FFF2-40B4-BE49-F238E27FC236}">
                <a16:creationId xmlns:a16="http://schemas.microsoft.com/office/drawing/2014/main" id="{BA3CF0C5-197F-478D-C195-44126E1CF330}"/>
              </a:ext>
            </a:extLst>
          </p:cNvPr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91138659-5354-4046-4372-67E3B9CF8BF3}"/>
              </a:ext>
            </a:extLst>
          </p:cNvPr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4">
            <a:extLst>
              <a:ext uri="{FF2B5EF4-FFF2-40B4-BE49-F238E27FC236}">
                <a16:creationId xmlns:a16="http://schemas.microsoft.com/office/drawing/2014/main" id="{0B6014CF-DB58-3F22-A674-3E0D1F3F1AA7}"/>
              </a:ext>
            </a:extLst>
          </p:cNvPr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traight Connector 28">
            <a:extLst>
              <a:ext uri="{FF2B5EF4-FFF2-40B4-BE49-F238E27FC236}">
                <a16:creationId xmlns:a16="http://schemas.microsoft.com/office/drawing/2014/main" id="{FA813F9A-4B7F-DEF8-1F8B-CAE1A5C79A5B}"/>
              </a:ext>
            </a:extLst>
          </p:cNvPr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D122FBD-6C96-2A32-60CC-57F27D1700D6}"/>
              </a:ext>
            </a:extLst>
          </p:cNvPr>
          <p:cNvSpPr/>
          <p:nvPr/>
        </p:nvSpPr>
        <p:spPr>
          <a:xfrm>
            <a:off x="1143000" y="1162080"/>
            <a:ext cx="11429640" cy="562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Resume Screening — High volume of applicants and manual shortlisting friction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111111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Resource Allocation — Securing panel availability and technical environments.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 Scheduling — Calendar coordination and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timezone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Ranking — Final stack-ranking to select the top candidate.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250C9-9BFC-4ACD-7B27-BC81E2FC2875}"/>
              </a:ext>
            </a:extLst>
          </p:cNvPr>
          <p:cNvSpPr txBox="1"/>
          <p:nvPr/>
        </p:nvSpPr>
        <p:spPr>
          <a:xfrm>
            <a:off x="1430866" y="1171973"/>
            <a:ext cx="1693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1671C-24FF-4351-124F-5298F64AD0F2}"/>
              </a:ext>
            </a:extLst>
          </p:cNvPr>
          <p:cNvSpPr txBox="1"/>
          <p:nvPr/>
        </p:nvSpPr>
        <p:spPr>
          <a:xfrm>
            <a:off x="1430867" y="1734120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2</a:t>
            </a:r>
          </a:p>
        </p:txBody>
      </p:sp>
    </p:spTree>
    <p:extLst>
      <p:ext uri="{BB962C8B-B14F-4D97-AF65-F5344CB8AC3E}">
        <p14:creationId xmlns:p14="http://schemas.microsoft.com/office/powerpoint/2010/main" val="1276664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BF453-2650-8535-3294-D0DDB158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2">
            <a:extLst>
              <a:ext uri="{FF2B5EF4-FFF2-40B4-BE49-F238E27FC236}">
                <a16:creationId xmlns:a16="http://schemas.microsoft.com/office/drawing/2014/main" id="{CEF140F9-D3C4-1C12-082D-7F31A2BB5CC7}"/>
              </a:ext>
            </a:extLst>
          </p:cNvPr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3CE8C94A-745A-32A5-E853-C261A3B3B3AC}"/>
              </a:ext>
            </a:extLst>
          </p:cNvPr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4">
            <a:extLst>
              <a:ext uri="{FF2B5EF4-FFF2-40B4-BE49-F238E27FC236}">
                <a16:creationId xmlns:a16="http://schemas.microsoft.com/office/drawing/2014/main" id="{2BE60946-6375-953B-0A0D-E858299AD1B0}"/>
              </a:ext>
            </a:extLst>
          </p:cNvPr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traight Connector 28">
            <a:extLst>
              <a:ext uri="{FF2B5EF4-FFF2-40B4-BE49-F238E27FC236}">
                <a16:creationId xmlns:a16="http://schemas.microsoft.com/office/drawing/2014/main" id="{AC8628A0-E3FA-17CF-55E8-3FA8A530B98F}"/>
              </a:ext>
            </a:extLst>
          </p:cNvPr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265F293-3BFF-0541-49BF-0D8B183AC318}"/>
              </a:ext>
            </a:extLst>
          </p:cNvPr>
          <p:cNvSpPr/>
          <p:nvPr/>
        </p:nvSpPr>
        <p:spPr>
          <a:xfrm>
            <a:off x="1143000" y="1162080"/>
            <a:ext cx="11429640" cy="562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Resume Screening — High volume of applicants and manual shortlisting friction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111111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Resource Allocation — Securing panel availability and technical environments.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Scheduling — Calendar coordination and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timezone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 alignment.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Ranking — Final stack-ranking to select the top candidate.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8E9B8-3A40-C917-330D-7D869626D64F}"/>
              </a:ext>
            </a:extLst>
          </p:cNvPr>
          <p:cNvSpPr txBox="1"/>
          <p:nvPr/>
        </p:nvSpPr>
        <p:spPr>
          <a:xfrm>
            <a:off x="1430867" y="1171973"/>
            <a:ext cx="185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31B82-FE72-497E-8501-35BB0B20D037}"/>
              </a:ext>
            </a:extLst>
          </p:cNvPr>
          <p:cNvSpPr txBox="1"/>
          <p:nvPr/>
        </p:nvSpPr>
        <p:spPr>
          <a:xfrm>
            <a:off x="1498599" y="1707089"/>
            <a:ext cx="1693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22E1D-4195-37D5-ACCB-91A0600569CD}"/>
              </a:ext>
            </a:extLst>
          </p:cNvPr>
          <p:cNvSpPr txBox="1"/>
          <p:nvPr/>
        </p:nvSpPr>
        <p:spPr>
          <a:xfrm>
            <a:off x="1430866" y="2738307"/>
            <a:ext cx="1761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3</a:t>
            </a:r>
          </a:p>
        </p:txBody>
      </p:sp>
    </p:spTree>
    <p:extLst>
      <p:ext uri="{BB962C8B-B14F-4D97-AF65-F5344CB8AC3E}">
        <p14:creationId xmlns:p14="http://schemas.microsoft.com/office/powerpoint/2010/main" val="1141154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B7D42-45DE-A12E-21B3-06DAE9C8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2">
            <a:extLst>
              <a:ext uri="{FF2B5EF4-FFF2-40B4-BE49-F238E27FC236}">
                <a16:creationId xmlns:a16="http://schemas.microsoft.com/office/drawing/2014/main" id="{754E27B7-FA0E-0589-45EA-ADBE27E712D9}"/>
              </a:ext>
            </a:extLst>
          </p:cNvPr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76D187AF-804B-8E8A-E567-2699D5F021F6}"/>
              </a:ext>
            </a:extLst>
          </p:cNvPr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4">
            <a:extLst>
              <a:ext uri="{FF2B5EF4-FFF2-40B4-BE49-F238E27FC236}">
                <a16:creationId xmlns:a16="http://schemas.microsoft.com/office/drawing/2014/main" id="{8839EC91-8D8E-B1F8-A129-085DABB89EF0}"/>
              </a:ext>
            </a:extLst>
          </p:cNvPr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traight Connector 28">
            <a:extLst>
              <a:ext uri="{FF2B5EF4-FFF2-40B4-BE49-F238E27FC236}">
                <a16:creationId xmlns:a16="http://schemas.microsoft.com/office/drawing/2014/main" id="{9CCE30FB-BC38-1B07-B461-938E30CC6909}"/>
              </a:ext>
            </a:extLst>
          </p:cNvPr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9944C3E-473A-6335-9BCA-D760F48E0E9D}"/>
              </a:ext>
            </a:extLst>
          </p:cNvPr>
          <p:cNvSpPr/>
          <p:nvPr/>
        </p:nvSpPr>
        <p:spPr>
          <a:xfrm>
            <a:off x="1143000" y="1162080"/>
            <a:ext cx="11429640" cy="562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Resume Screening — High volume of applicants and manual shortlisting friction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111111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Resource Allocation — Securing panel availability and technical environments.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Scheduling — Calendar coordination and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timezone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 alignment.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Ranking — Final stack-ranking to select the top candidate.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E605A5-314A-7547-16E8-9DE6DDBB072B}"/>
              </a:ext>
            </a:extLst>
          </p:cNvPr>
          <p:cNvSpPr txBox="1"/>
          <p:nvPr/>
        </p:nvSpPr>
        <p:spPr>
          <a:xfrm>
            <a:off x="1430866" y="1171973"/>
            <a:ext cx="1718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B22A1-5B97-DB2D-A43D-2B84F47DCFAC}"/>
              </a:ext>
            </a:extLst>
          </p:cNvPr>
          <p:cNvSpPr txBox="1"/>
          <p:nvPr/>
        </p:nvSpPr>
        <p:spPr>
          <a:xfrm>
            <a:off x="1498601" y="1683253"/>
            <a:ext cx="1811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D94DE-FF1E-0CB7-A759-BABAA7112AFF}"/>
              </a:ext>
            </a:extLst>
          </p:cNvPr>
          <p:cNvSpPr txBox="1"/>
          <p:nvPr/>
        </p:nvSpPr>
        <p:spPr>
          <a:xfrm>
            <a:off x="1498601" y="2734501"/>
            <a:ext cx="1811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74702-AE95-5EAB-7DB2-2042FF5AAE12}"/>
              </a:ext>
            </a:extLst>
          </p:cNvPr>
          <p:cNvSpPr txBox="1"/>
          <p:nvPr/>
        </p:nvSpPr>
        <p:spPr>
          <a:xfrm>
            <a:off x="1498601" y="3252225"/>
            <a:ext cx="1811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4</a:t>
            </a:r>
          </a:p>
        </p:txBody>
      </p:sp>
    </p:spTree>
    <p:extLst>
      <p:ext uri="{BB962C8B-B14F-4D97-AF65-F5344CB8AC3E}">
        <p14:creationId xmlns:p14="http://schemas.microsoft.com/office/powerpoint/2010/main" val="2061557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59BBC-C5FF-1BC8-8C1E-82E37B96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2">
            <a:extLst>
              <a:ext uri="{FF2B5EF4-FFF2-40B4-BE49-F238E27FC236}">
                <a16:creationId xmlns:a16="http://schemas.microsoft.com/office/drawing/2014/main" id="{0C30EC7A-9A33-310F-6373-305A84A1F4EE}"/>
              </a:ext>
            </a:extLst>
          </p:cNvPr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C1F1AF33-7DCE-FA06-E6BD-6F758D7E5353}"/>
              </a:ext>
            </a:extLst>
          </p:cNvPr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4">
            <a:extLst>
              <a:ext uri="{FF2B5EF4-FFF2-40B4-BE49-F238E27FC236}">
                <a16:creationId xmlns:a16="http://schemas.microsoft.com/office/drawing/2014/main" id="{E1EE45B7-CD6A-72BE-FD9C-37D61FCFB952}"/>
              </a:ext>
            </a:extLst>
          </p:cNvPr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traight Connector 28">
            <a:extLst>
              <a:ext uri="{FF2B5EF4-FFF2-40B4-BE49-F238E27FC236}">
                <a16:creationId xmlns:a16="http://schemas.microsoft.com/office/drawing/2014/main" id="{262E7562-AB7C-9D3F-2AEE-644FB168C6F6}"/>
              </a:ext>
            </a:extLst>
          </p:cNvPr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60A162E-2CD7-7C9B-37C6-FCF330478BE5}"/>
              </a:ext>
            </a:extLst>
          </p:cNvPr>
          <p:cNvSpPr/>
          <p:nvPr/>
        </p:nvSpPr>
        <p:spPr>
          <a:xfrm>
            <a:off x="1143000" y="1162080"/>
            <a:ext cx="11429640" cy="562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Resume Screening — High volume of applicants and manual shortlisting friction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111111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Resource Allocation — Securing panel availability and technical environments.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Scheduling — Calendar coordination and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timezone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 alignment.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Candidate Ranking — Final stack-ranking to select the top candidate.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3A56A-F756-F4D4-5956-7AF9FE3C6136}"/>
              </a:ext>
            </a:extLst>
          </p:cNvPr>
          <p:cNvSpPr txBox="1"/>
          <p:nvPr/>
        </p:nvSpPr>
        <p:spPr>
          <a:xfrm>
            <a:off x="1430867" y="1171973"/>
            <a:ext cx="172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8D109-60C4-57AA-EE59-81DD081695E2}"/>
              </a:ext>
            </a:extLst>
          </p:cNvPr>
          <p:cNvSpPr txBox="1"/>
          <p:nvPr/>
        </p:nvSpPr>
        <p:spPr>
          <a:xfrm>
            <a:off x="1498600" y="1683253"/>
            <a:ext cx="1803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9E0AD-A47E-2EC9-1CB3-7AF0FC14703B}"/>
              </a:ext>
            </a:extLst>
          </p:cNvPr>
          <p:cNvSpPr txBox="1"/>
          <p:nvPr/>
        </p:nvSpPr>
        <p:spPr>
          <a:xfrm>
            <a:off x="1498601" y="2734501"/>
            <a:ext cx="1659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22641-46DF-AEF2-FD95-F3A54ECBC20B}"/>
              </a:ext>
            </a:extLst>
          </p:cNvPr>
          <p:cNvSpPr txBox="1"/>
          <p:nvPr/>
        </p:nvSpPr>
        <p:spPr>
          <a:xfrm>
            <a:off x="1498601" y="3252225"/>
            <a:ext cx="1659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1FB3B-791D-EF99-3F7A-35335EFDFFA9}"/>
              </a:ext>
            </a:extLst>
          </p:cNvPr>
          <p:cNvSpPr txBox="1"/>
          <p:nvPr/>
        </p:nvSpPr>
        <p:spPr>
          <a:xfrm>
            <a:off x="1498601" y="5357366"/>
            <a:ext cx="1803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SOLUTION 5</a:t>
            </a:r>
          </a:p>
        </p:txBody>
      </p:sp>
    </p:spTree>
    <p:extLst>
      <p:ext uri="{BB962C8B-B14F-4D97-AF65-F5344CB8AC3E}">
        <p14:creationId xmlns:p14="http://schemas.microsoft.com/office/powerpoint/2010/main" val="4016429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38662-7F19-0C9B-C022-DFDDE2F2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2">
            <a:extLst>
              <a:ext uri="{FF2B5EF4-FFF2-40B4-BE49-F238E27FC236}">
                <a16:creationId xmlns:a16="http://schemas.microsoft.com/office/drawing/2014/main" id="{F10BF7CA-B9BE-4E49-B64F-BA577C5347F9}"/>
              </a:ext>
            </a:extLst>
          </p:cNvPr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3BF8BB1E-8AFD-3786-73D0-F1CE2DB6F3C3}"/>
              </a:ext>
            </a:extLst>
          </p:cNvPr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Problems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4">
            <a:extLst>
              <a:ext uri="{FF2B5EF4-FFF2-40B4-BE49-F238E27FC236}">
                <a16:creationId xmlns:a16="http://schemas.microsoft.com/office/drawing/2014/main" id="{4716393C-166C-29DF-8F1B-E9C31E5DE46F}"/>
              </a:ext>
            </a:extLst>
          </p:cNvPr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Initial technical screening creates a scaling and consistency bottleneck.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traight Connector 28">
            <a:extLst>
              <a:ext uri="{FF2B5EF4-FFF2-40B4-BE49-F238E27FC236}">
                <a16:creationId xmlns:a16="http://schemas.microsoft.com/office/drawing/2014/main" id="{88250358-16BC-172D-6243-EC908078DADC}"/>
              </a:ext>
            </a:extLst>
          </p:cNvPr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ACA7298-58A6-5431-774B-696B60B12C1A}"/>
              </a:ext>
            </a:extLst>
          </p:cNvPr>
          <p:cNvSpPr/>
          <p:nvPr/>
        </p:nvSpPr>
        <p:spPr>
          <a:xfrm>
            <a:off x="1143000" y="1162080"/>
            <a:ext cx="11429640" cy="56205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Resume Screening — High volume of applicants and manual shortlisting friction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111111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Resource Allocation — Securing panel availability and technical environments.</a:t>
            </a:r>
            <a:endParaRPr lang="en-US" sz="1600" b="0" u="none" strike="noStrike" dirty="0">
              <a:solidFill>
                <a:srgbClr val="000000"/>
              </a:solidFill>
              <a:effectLst/>
              <a:highlight>
                <a:srgbClr val="000000"/>
              </a:highlight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Interviewer Preparation — Standardizing evaluation rubrics and question kits.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Scheduling — Calendar coordination and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timezone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 alignment.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 Logistics &amp; Communication — Managing email threads, updates, and rescheduling requests.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Interviewer Trust &amp; Reliability — Mitigating evaluation bias and ensuring interviewer competence.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Post-Interview Administration — Collecting timely, structured feedback from panels.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Data Consolidation — Gathering disparate interview notes and scores into one central system.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Candidate Evaluation — Objective assessment against core role requirements.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Candidate Scoring — Applying consistent metrics to compare performance.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Arial"/>
              </a:rPr>
              <a:t>Candidate Ranking — Final stack-ranking to select the top candidate.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D5EBD7-AD94-BD97-260F-995B91363C6F}"/>
              </a:ext>
            </a:extLst>
          </p:cNvPr>
          <p:cNvSpPr txBox="1"/>
          <p:nvPr/>
        </p:nvSpPr>
        <p:spPr>
          <a:xfrm>
            <a:off x="1701799" y="2767280"/>
            <a:ext cx="73276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One Solution ???</a:t>
            </a:r>
          </a:p>
        </p:txBody>
      </p:sp>
    </p:spTree>
    <p:extLst>
      <p:ext uri="{BB962C8B-B14F-4D97-AF65-F5344CB8AC3E}">
        <p14:creationId xmlns:p14="http://schemas.microsoft.com/office/powerpoint/2010/main" val="937462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traight Connector 25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371600" y="2514600"/>
            <a:ext cx="982944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0" b="0" u="none" strike="noStrike" dirty="0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0000" b="0" u="none" strike="noStrike" dirty="0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0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sarvam startup program">
            <a:extLst>
              <a:ext uri="{FF2B5EF4-FFF2-40B4-BE49-F238E27FC236}">
                <a16:creationId xmlns:a16="http://schemas.microsoft.com/office/drawing/2014/main" id="{DDAE1856-FC37-2D9C-A869-C0E49DC8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4" y="346305"/>
            <a:ext cx="10905065" cy="657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59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traight Connector 26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71600" y="2514600"/>
            <a:ext cx="982944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00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1371600" y="4462560"/>
            <a:ext cx="10286640" cy="308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AI-powered platform automates every step of hiring—from resume parsing and autonomous interviews to evaluation, scoring, and candidate ranking. It eliminates operational bottlenecks so talent teams can identify and hire top-tier candidates ten times faster.</a:t>
            </a: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20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Objective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Turn the first screening round into a repeatable, data-backed workflow.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: Rounded Corners 4"/>
          <p:cNvSpPr/>
          <p:nvPr/>
        </p:nvSpPr>
        <p:spPr>
          <a:xfrm>
            <a:off x="762120" y="169560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1009800" y="1905120"/>
            <a:ext cx="570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1762200" y="1905120"/>
            <a:ext cx="342828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Automate screening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1762200" y="232416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Run an AI voice interview without recruiter involvement.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: Rounded Corners 8"/>
          <p:cNvSpPr/>
          <p:nvPr/>
        </p:nvSpPr>
        <p:spPr>
          <a:xfrm>
            <a:off x="6191280" y="169560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6438960" y="1905120"/>
            <a:ext cx="570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7191360" y="1905120"/>
            <a:ext cx="342828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Standardize evaluation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1"/>
          <p:cNvSpPr/>
          <p:nvPr/>
        </p:nvSpPr>
        <p:spPr>
          <a:xfrm>
            <a:off x="7191360" y="232416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Use the same criteria, question bank, and scorecard format.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: Rounded Corners 12"/>
          <p:cNvSpPr/>
          <p:nvPr/>
        </p:nvSpPr>
        <p:spPr>
          <a:xfrm>
            <a:off x="762120" y="364824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3"/>
          <p:cNvSpPr/>
          <p:nvPr/>
        </p:nvSpPr>
        <p:spPr>
          <a:xfrm>
            <a:off x="1009800" y="3857760"/>
            <a:ext cx="570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4"/>
          <p:cNvSpPr/>
          <p:nvPr/>
        </p:nvSpPr>
        <p:spPr>
          <a:xfrm>
            <a:off x="1762200" y="3857760"/>
            <a:ext cx="342828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Shorten time-to-hire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5"/>
          <p:cNvSpPr/>
          <p:nvPr/>
        </p:nvSpPr>
        <p:spPr>
          <a:xfrm>
            <a:off x="1762200" y="427680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Move from manual scheduling and review to an on-demand flow.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: Rounded Corners 16"/>
          <p:cNvSpPr/>
          <p:nvPr/>
        </p:nvSpPr>
        <p:spPr>
          <a:xfrm>
            <a:off x="6191280" y="364824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7"/>
          <p:cNvSpPr/>
          <p:nvPr/>
        </p:nvSpPr>
        <p:spPr>
          <a:xfrm>
            <a:off x="6438960" y="3857760"/>
            <a:ext cx="570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8"/>
          <p:cNvSpPr/>
          <p:nvPr/>
        </p:nvSpPr>
        <p:spPr>
          <a:xfrm>
            <a:off x="7191360" y="3857760"/>
            <a:ext cx="342828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Give recruiters clarity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7191360" y="427680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Show strengths, weaknesses, category scores, and ranking.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26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Proposed solution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One platform connects candidate application, live interview, evaluation, and recruiter review.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: Rounded Corners 4"/>
          <p:cNvSpPr/>
          <p:nvPr/>
        </p:nvSpPr>
        <p:spPr>
          <a:xfrm>
            <a:off x="419040" y="1542960"/>
            <a:ext cx="10819800" cy="3714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val 5"/>
          <p:cNvSpPr/>
          <p:nvPr/>
        </p:nvSpPr>
        <p:spPr>
          <a:xfrm>
            <a:off x="1009800" y="2381400"/>
            <a:ext cx="551880" cy="5518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6"/>
          <p:cNvSpPr/>
          <p:nvPr/>
        </p:nvSpPr>
        <p:spPr>
          <a:xfrm>
            <a:off x="1009800" y="2514600"/>
            <a:ext cx="551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7"/>
          <p:cNvSpPr/>
          <p:nvPr/>
        </p:nvSpPr>
        <p:spPr>
          <a:xfrm>
            <a:off x="771480" y="3162240"/>
            <a:ext cx="10468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Apply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8"/>
          <p:cNvSpPr/>
          <p:nvPr/>
        </p:nvSpPr>
        <p:spPr>
          <a:xfrm>
            <a:off x="419040" y="3581280"/>
            <a:ext cx="1761480" cy="66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Candidate submits profile and PDF resume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traight Connector 9"/>
          <p:cNvSpPr/>
          <p:nvPr/>
        </p:nvSpPr>
        <p:spPr>
          <a:xfrm>
            <a:off x="1600200" y="2657160"/>
            <a:ext cx="180972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Oval 10"/>
          <p:cNvSpPr/>
          <p:nvPr/>
        </p:nvSpPr>
        <p:spPr>
          <a:xfrm>
            <a:off x="3562200" y="2381400"/>
            <a:ext cx="551880" cy="5518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1"/>
          <p:cNvSpPr/>
          <p:nvPr/>
        </p:nvSpPr>
        <p:spPr>
          <a:xfrm>
            <a:off x="3562200" y="2514600"/>
            <a:ext cx="551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2"/>
          <p:cNvSpPr/>
          <p:nvPr/>
        </p:nvSpPr>
        <p:spPr>
          <a:xfrm>
            <a:off x="3324240" y="3162240"/>
            <a:ext cx="10468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Parse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13"/>
          <p:cNvSpPr/>
          <p:nvPr/>
        </p:nvSpPr>
        <p:spPr>
          <a:xfrm>
            <a:off x="2861640" y="3545280"/>
            <a:ext cx="2100240" cy="66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Question bank is generated from resume + </a:t>
            </a:r>
            <a:r>
              <a:rPr lang="en-IN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Job Description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traight Connector 14"/>
          <p:cNvSpPr/>
          <p:nvPr/>
        </p:nvSpPr>
        <p:spPr>
          <a:xfrm>
            <a:off x="4152600" y="2657160"/>
            <a:ext cx="180972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val 15"/>
          <p:cNvSpPr/>
          <p:nvPr/>
        </p:nvSpPr>
        <p:spPr>
          <a:xfrm>
            <a:off x="6114960" y="2381400"/>
            <a:ext cx="551880" cy="5518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6"/>
          <p:cNvSpPr/>
          <p:nvPr/>
        </p:nvSpPr>
        <p:spPr>
          <a:xfrm>
            <a:off x="6114960" y="2514600"/>
            <a:ext cx="551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7"/>
          <p:cNvSpPr/>
          <p:nvPr/>
        </p:nvSpPr>
        <p:spPr>
          <a:xfrm>
            <a:off x="5877000" y="3162240"/>
            <a:ext cx="10468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Interview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8"/>
          <p:cNvSpPr/>
          <p:nvPr/>
        </p:nvSpPr>
        <p:spPr>
          <a:xfrm>
            <a:off x="5524560" y="3581280"/>
            <a:ext cx="1761480" cy="66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AI voice agent runs a 20-minute session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traight Connector 19"/>
          <p:cNvSpPr/>
          <p:nvPr/>
        </p:nvSpPr>
        <p:spPr>
          <a:xfrm>
            <a:off x="6705360" y="2657160"/>
            <a:ext cx="180972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Oval 20"/>
          <p:cNvSpPr/>
          <p:nvPr/>
        </p:nvSpPr>
        <p:spPr>
          <a:xfrm>
            <a:off x="8667720" y="2381400"/>
            <a:ext cx="551880" cy="5518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21"/>
          <p:cNvSpPr/>
          <p:nvPr/>
        </p:nvSpPr>
        <p:spPr>
          <a:xfrm>
            <a:off x="8667720" y="2514600"/>
            <a:ext cx="551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22"/>
          <p:cNvSpPr/>
          <p:nvPr/>
        </p:nvSpPr>
        <p:spPr>
          <a:xfrm>
            <a:off x="8429760" y="3162240"/>
            <a:ext cx="10468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Evaluate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23"/>
          <p:cNvSpPr/>
          <p:nvPr/>
        </p:nvSpPr>
        <p:spPr>
          <a:xfrm>
            <a:off x="8077320" y="3581280"/>
            <a:ext cx="1761480" cy="66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Transcript becomes scorecard and ranking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24"/>
          <p:cNvSpPr/>
          <p:nvPr/>
        </p:nvSpPr>
        <p:spPr>
          <a:xfrm>
            <a:off x="1009800" y="476244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Recruiter outcome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5"/>
          <p:cNvSpPr/>
          <p:nvPr/>
        </p:nvSpPr>
        <p:spPr>
          <a:xfrm>
            <a:off x="3200400" y="4724280"/>
            <a:ext cx="66668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 transparent shortlist with evidence behind every score.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22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Technology stack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platform combines a modern web frontend, Python APIs, real-time voice, and workflow automation.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traight Connector 4"/>
          <p:cNvSpPr/>
          <p:nvPr/>
        </p:nvSpPr>
        <p:spPr>
          <a:xfrm>
            <a:off x="685800" y="2038320"/>
            <a:ext cx="108201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838080" y="148608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6"/>
          <p:cNvSpPr/>
          <p:nvPr/>
        </p:nvSpPr>
        <p:spPr>
          <a:xfrm>
            <a:off x="2857680" y="1486080"/>
            <a:ext cx="80956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React · Vite · LiveKit Components React · Custom CSS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traight Connector 7"/>
          <p:cNvSpPr/>
          <p:nvPr/>
        </p:nvSpPr>
        <p:spPr>
          <a:xfrm>
            <a:off x="685800" y="2743200"/>
            <a:ext cx="108201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8"/>
          <p:cNvSpPr/>
          <p:nvPr/>
        </p:nvSpPr>
        <p:spPr>
          <a:xfrm>
            <a:off x="838080" y="219060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Backend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9"/>
          <p:cNvSpPr/>
          <p:nvPr/>
        </p:nvSpPr>
        <p:spPr>
          <a:xfrm>
            <a:off x="2857680" y="2190600"/>
            <a:ext cx="80956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Python · FastAPI · Uvicorn · Pydantic · PyJWT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traight Connector 10"/>
          <p:cNvSpPr/>
          <p:nvPr/>
        </p:nvSpPr>
        <p:spPr>
          <a:xfrm>
            <a:off x="685800" y="3447720"/>
            <a:ext cx="108201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1"/>
          <p:cNvSpPr/>
          <p:nvPr/>
        </p:nvSpPr>
        <p:spPr>
          <a:xfrm>
            <a:off x="838080" y="289548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Voice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2"/>
          <p:cNvSpPr/>
          <p:nvPr/>
        </p:nvSpPr>
        <p:spPr>
          <a:xfrm>
            <a:off x="2857680" y="2895480"/>
            <a:ext cx="80956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43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· Sarvam STT · LLM · TTS  </a:t>
            </a: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LiveKit Cloud · Agents SDK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traight Connector 13"/>
          <p:cNvSpPr/>
          <p:nvPr/>
        </p:nvSpPr>
        <p:spPr>
          <a:xfrm>
            <a:off x="685800" y="4152600"/>
            <a:ext cx="108201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4"/>
          <p:cNvSpPr/>
          <p:nvPr/>
        </p:nvSpPr>
        <p:spPr>
          <a:xfrm>
            <a:off x="838080" y="360036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Automation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15"/>
          <p:cNvSpPr/>
          <p:nvPr/>
        </p:nvSpPr>
        <p:spPr>
          <a:xfrm>
            <a:off x="2857680" y="3600360"/>
            <a:ext cx="80956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n8n workflows for question generation, email, evaluation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traight Connector 16"/>
          <p:cNvSpPr/>
          <p:nvPr/>
        </p:nvSpPr>
        <p:spPr>
          <a:xfrm>
            <a:off x="685800" y="4857480"/>
            <a:ext cx="108201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7"/>
          <p:cNvSpPr/>
          <p:nvPr/>
        </p:nvSpPr>
        <p:spPr>
          <a:xfrm>
            <a:off x="838080" y="430524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8"/>
          <p:cNvSpPr/>
          <p:nvPr/>
        </p:nvSpPr>
        <p:spPr>
          <a:xfrm>
            <a:off x="2857680" y="4305240"/>
            <a:ext cx="80956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Supabase PostgreSQL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6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Application flow /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candidate journey moves through real-time AI processing, reliable handoff, and dashboard feedback.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: Rounded Corners 4"/>
          <p:cNvSpPr/>
          <p:nvPr/>
        </p:nvSpPr>
        <p:spPr>
          <a:xfrm>
            <a:off x="514440" y="209556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704880" y="2247840"/>
            <a:ext cx="15040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Candidate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6"/>
          <p:cNvSpPr/>
          <p:nvPr/>
        </p:nvSpPr>
        <p:spPr>
          <a:xfrm>
            <a:off x="704880" y="2857680"/>
            <a:ext cx="142812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React job board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application + interview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traight Connector 7"/>
          <p:cNvSpPr/>
          <p:nvPr/>
        </p:nvSpPr>
        <p:spPr>
          <a:xfrm>
            <a:off x="2323800" y="2904840"/>
            <a:ext cx="4287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: Rounded Corners 8"/>
          <p:cNvSpPr/>
          <p:nvPr/>
        </p:nvSpPr>
        <p:spPr>
          <a:xfrm>
            <a:off x="2781360" y="209556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9"/>
          <p:cNvSpPr/>
          <p:nvPr/>
        </p:nvSpPr>
        <p:spPr>
          <a:xfrm>
            <a:off x="2933640" y="2324160"/>
            <a:ext cx="15040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FastAPI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0"/>
          <p:cNvSpPr/>
          <p:nvPr/>
        </p:nvSpPr>
        <p:spPr>
          <a:xfrm>
            <a:off x="2971800" y="2857680"/>
            <a:ext cx="142812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Auth · applications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LiveKit tokens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traight Connector 11"/>
          <p:cNvSpPr/>
          <p:nvPr/>
        </p:nvSpPr>
        <p:spPr>
          <a:xfrm>
            <a:off x="4590720" y="2904840"/>
            <a:ext cx="4287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: Rounded Corners 12"/>
          <p:cNvSpPr/>
          <p:nvPr/>
        </p:nvSpPr>
        <p:spPr>
          <a:xfrm>
            <a:off x="5048280" y="209556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E9F1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13"/>
          <p:cNvSpPr/>
          <p:nvPr/>
        </p:nvSpPr>
        <p:spPr>
          <a:xfrm>
            <a:off x="5200560" y="2324160"/>
            <a:ext cx="15040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Sarvam</a:t>
            </a: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agent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4"/>
          <p:cNvSpPr/>
          <p:nvPr/>
        </p:nvSpPr>
        <p:spPr>
          <a:xfrm>
            <a:off x="5238720" y="2857680"/>
            <a:ext cx="142812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STT → LLM → TTS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resume-grounded dialog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traight Connector 15"/>
          <p:cNvSpPr/>
          <p:nvPr/>
        </p:nvSpPr>
        <p:spPr>
          <a:xfrm>
            <a:off x="6858000" y="2904840"/>
            <a:ext cx="42840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: Rounded Corners 16"/>
          <p:cNvSpPr/>
          <p:nvPr/>
        </p:nvSpPr>
        <p:spPr>
          <a:xfrm>
            <a:off x="7315200" y="209556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7"/>
          <p:cNvSpPr/>
          <p:nvPr/>
        </p:nvSpPr>
        <p:spPr>
          <a:xfrm>
            <a:off x="7467480" y="2324160"/>
            <a:ext cx="15040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n8n + Supabase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8"/>
          <p:cNvSpPr/>
          <p:nvPr/>
        </p:nvSpPr>
        <p:spPr>
          <a:xfrm>
            <a:off x="7505640" y="2857680"/>
            <a:ext cx="142812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evaluate · store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rank · notify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traight Connector 19"/>
          <p:cNvSpPr/>
          <p:nvPr/>
        </p:nvSpPr>
        <p:spPr>
          <a:xfrm>
            <a:off x="9124920" y="2904840"/>
            <a:ext cx="42840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: Rounded Corners 20"/>
          <p:cNvSpPr/>
          <p:nvPr/>
        </p:nvSpPr>
        <p:spPr>
          <a:xfrm>
            <a:off x="9582120" y="209556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21"/>
          <p:cNvSpPr/>
          <p:nvPr/>
        </p:nvSpPr>
        <p:spPr>
          <a:xfrm>
            <a:off x="9734400" y="2324160"/>
            <a:ext cx="150408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Recruiter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22"/>
          <p:cNvSpPr/>
          <p:nvPr/>
        </p:nvSpPr>
        <p:spPr>
          <a:xfrm>
            <a:off x="9772560" y="2857680"/>
            <a:ext cx="142812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scorecard · transcript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leaderboard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8"/>
          <p:cNvSpPr/>
          <p:nvPr/>
        </p:nvSpPr>
        <p:spPr>
          <a:xfrm>
            <a:off x="514440" y="4352760"/>
            <a:ext cx="11245680" cy="179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Calibri"/>
              </a:rPr>
              <a:t>Seamlessly connects the candidate experience with real-time voice AI and automated backend pipelines.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Calibri"/>
              </a:rPr>
              <a:t>Ensures complete interview continuity, structured evaluation, and instant recruiter visibility at every stage.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34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n8n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n8n handles the background work around the live interview.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: Rounded Corners 4"/>
          <p:cNvSpPr/>
          <p:nvPr/>
        </p:nvSpPr>
        <p:spPr>
          <a:xfrm>
            <a:off x="914400" y="1428840"/>
            <a:ext cx="10286280" cy="6278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val 5"/>
          <p:cNvSpPr/>
          <p:nvPr/>
        </p:nvSpPr>
        <p:spPr>
          <a:xfrm>
            <a:off x="1123920" y="1600200"/>
            <a:ext cx="285120" cy="2851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6"/>
          <p:cNvSpPr/>
          <p:nvPr/>
        </p:nvSpPr>
        <p:spPr>
          <a:xfrm>
            <a:off x="1123920" y="1647720"/>
            <a:ext cx="28512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7"/>
          <p:cNvSpPr/>
          <p:nvPr/>
        </p:nvSpPr>
        <p:spPr>
          <a:xfrm>
            <a:off x="1657440" y="1571760"/>
            <a:ext cx="24757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Application webhook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8"/>
          <p:cNvSpPr/>
          <p:nvPr/>
        </p:nvSpPr>
        <p:spPr>
          <a:xfrm>
            <a:off x="4324320" y="1571760"/>
            <a:ext cx="60951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Resume + role enter workflow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traight Connector 9"/>
          <p:cNvSpPr/>
          <p:nvPr/>
        </p:nvSpPr>
        <p:spPr>
          <a:xfrm>
            <a:off x="1266480" y="2057400"/>
            <a:ext cx="360" cy="26640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: Rounded Corners 10"/>
          <p:cNvSpPr/>
          <p:nvPr/>
        </p:nvSpPr>
        <p:spPr>
          <a:xfrm>
            <a:off x="914400" y="2324160"/>
            <a:ext cx="10286280" cy="6278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11"/>
          <p:cNvSpPr/>
          <p:nvPr/>
        </p:nvSpPr>
        <p:spPr>
          <a:xfrm>
            <a:off x="1123920" y="2495520"/>
            <a:ext cx="285120" cy="2851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12"/>
          <p:cNvSpPr/>
          <p:nvPr/>
        </p:nvSpPr>
        <p:spPr>
          <a:xfrm>
            <a:off x="1123920" y="2543040"/>
            <a:ext cx="28512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3"/>
          <p:cNvSpPr/>
          <p:nvPr/>
        </p:nvSpPr>
        <p:spPr>
          <a:xfrm>
            <a:off x="1657440" y="2467080"/>
            <a:ext cx="24757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Question generation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14"/>
          <p:cNvSpPr/>
          <p:nvPr/>
        </p:nvSpPr>
        <p:spPr>
          <a:xfrm>
            <a:off x="4324320" y="2467080"/>
            <a:ext cx="60951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Sarvam LLM creates </a:t>
            </a:r>
            <a:r>
              <a:rPr lang="en-IN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personalised</a:t>
            </a: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questions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traight Connector 15"/>
          <p:cNvSpPr/>
          <p:nvPr/>
        </p:nvSpPr>
        <p:spPr>
          <a:xfrm>
            <a:off x="1266480" y="2952720"/>
            <a:ext cx="360" cy="26640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: Rounded Corners 16"/>
          <p:cNvSpPr/>
          <p:nvPr/>
        </p:nvSpPr>
        <p:spPr>
          <a:xfrm>
            <a:off x="952560" y="3219480"/>
            <a:ext cx="10286280" cy="6278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Oval 17"/>
          <p:cNvSpPr/>
          <p:nvPr/>
        </p:nvSpPr>
        <p:spPr>
          <a:xfrm>
            <a:off x="1123920" y="3390840"/>
            <a:ext cx="285120" cy="2851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18"/>
          <p:cNvSpPr/>
          <p:nvPr/>
        </p:nvSpPr>
        <p:spPr>
          <a:xfrm>
            <a:off x="1123920" y="3438360"/>
            <a:ext cx="28512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9"/>
          <p:cNvSpPr/>
          <p:nvPr/>
        </p:nvSpPr>
        <p:spPr>
          <a:xfrm>
            <a:off x="1657440" y="3362400"/>
            <a:ext cx="24757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Email dispatch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20"/>
          <p:cNvSpPr/>
          <p:nvPr/>
        </p:nvSpPr>
        <p:spPr>
          <a:xfrm>
            <a:off x="4324320" y="3362400"/>
            <a:ext cx="60951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Candidate receives interview link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traight Connector 21"/>
          <p:cNvSpPr/>
          <p:nvPr/>
        </p:nvSpPr>
        <p:spPr>
          <a:xfrm>
            <a:off x="1266480" y="3848040"/>
            <a:ext cx="360" cy="2667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: Rounded Corners 22"/>
          <p:cNvSpPr/>
          <p:nvPr/>
        </p:nvSpPr>
        <p:spPr>
          <a:xfrm>
            <a:off x="914400" y="4114800"/>
            <a:ext cx="10286280" cy="627840"/>
          </a:xfrm>
          <a:prstGeom prst="roundRect">
            <a:avLst>
              <a:gd name="adj" fmla="val 12121"/>
            </a:avLst>
          </a:prstGeom>
          <a:solidFill>
            <a:srgbClr val="E9F1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Oval 23"/>
          <p:cNvSpPr/>
          <p:nvPr/>
        </p:nvSpPr>
        <p:spPr>
          <a:xfrm>
            <a:off x="1123920" y="4286160"/>
            <a:ext cx="285120" cy="2851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24"/>
          <p:cNvSpPr/>
          <p:nvPr/>
        </p:nvSpPr>
        <p:spPr>
          <a:xfrm>
            <a:off x="1123920" y="4334040"/>
            <a:ext cx="28512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25"/>
          <p:cNvSpPr/>
          <p:nvPr/>
        </p:nvSpPr>
        <p:spPr>
          <a:xfrm>
            <a:off x="1657440" y="4257720"/>
            <a:ext cx="24757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Evaluation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26"/>
          <p:cNvSpPr/>
          <p:nvPr/>
        </p:nvSpPr>
        <p:spPr>
          <a:xfrm>
            <a:off x="4324320" y="4257720"/>
            <a:ext cx="60951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Transcript is scored against question bank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traight Connector 27"/>
          <p:cNvSpPr/>
          <p:nvPr/>
        </p:nvSpPr>
        <p:spPr>
          <a:xfrm>
            <a:off x="1266480" y="4743360"/>
            <a:ext cx="360" cy="2667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: Rounded Corners 28"/>
          <p:cNvSpPr/>
          <p:nvPr/>
        </p:nvSpPr>
        <p:spPr>
          <a:xfrm>
            <a:off x="914400" y="5010120"/>
            <a:ext cx="10286280" cy="6278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Oval 29"/>
          <p:cNvSpPr/>
          <p:nvPr/>
        </p:nvSpPr>
        <p:spPr>
          <a:xfrm>
            <a:off x="1123920" y="5181480"/>
            <a:ext cx="285120" cy="28512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0"/>
          <p:cNvSpPr/>
          <p:nvPr/>
        </p:nvSpPr>
        <p:spPr>
          <a:xfrm>
            <a:off x="1123920" y="5229360"/>
            <a:ext cx="28512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31"/>
          <p:cNvSpPr/>
          <p:nvPr/>
        </p:nvSpPr>
        <p:spPr>
          <a:xfrm>
            <a:off x="1693440" y="5153040"/>
            <a:ext cx="24757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Database update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32"/>
          <p:cNvSpPr/>
          <p:nvPr/>
        </p:nvSpPr>
        <p:spPr>
          <a:xfrm>
            <a:off x="4324320" y="5153040"/>
            <a:ext cx="60951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Summary, categories, rank saved to Supabase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33"/>
          <p:cNvSpPr/>
          <p:nvPr/>
        </p:nvSpPr>
        <p:spPr>
          <a:xfrm>
            <a:off x="914400" y="6019920"/>
            <a:ext cx="102862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workflow separates real-time interview latency from slower background work, so scoring and notifications do not block the candidate session.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20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Validation &amp; error handling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system protects the candidate experience and prevents lost evaluations.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: Rounded Corners 4"/>
          <p:cNvSpPr/>
          <p:nvPr/>
        </p:nvSpPr>
        <p:spPr>
          <a:xfrm>
            <a:off x="704880" y="156204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: Rounded Corners 5"/>
          <p:cNvSpPr/>
          <p:nvPr/>
        </p:nvSpPr>
        <p:spPr>
          <a:xfrm>
            <a:off x="933480" y="1790640"/>
            <a:ext cx="113760" cy="10184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6"/>
          <p:cNvSpPr/>
          <p:nvPr/>
        </p:nvSpPr>
        <p:spPr>
          <a:xfrm>
            <a:off x="1295280" y="1790640"/>
            <a:ext cx="376164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Input validation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7"/>
          <p:cNvSpPr/>
          <p:nvPr/>
        </p:nvSpPr>
        <p:spPr>
          <a:xfrm>
            <a:off x="1295280" y="2190600"/>
            <a:ext cx="380916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Email and profile-link regex checks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PDF-only resumes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5 MB upload limit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: Rounded Corners 8"/>
          <p:cNvSpPr/>
          <p:nvPr/>
        </p:nvSpPr>
        <p:spPr>
          <a:xfrm>
            <a:off x="6134040" y="156204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: Rounded Corners 9"/>
          <p:cNvSpPr/>
          <p:nvPr/>
        </p:nvSpPr>
        <p:spPr>
          <a:xfrm>
            <a:off x="6362640" y="1790640"/>
            <a:ext cx="113760" cy="10184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10"/>
          <p:cNvSpPr/>
          <p:nvPr/>
        </p:nvSpPr>
        <p:spPr>
          <a:xfrm>
            <a:off x="6724800" y="1790640"/>
            <a:ext cx="376164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Connection recovery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1"/>
          <p:cNvSpPr/>
          <p:nvPr/>
        </p:nvSpPr>
        <p:spPr>
          <a:xfrm>
            <a:off x="6724800" y="2190600"/>
            <a:ext cx="380916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Three-minute WebRTC grace period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AI resumes from the current question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: Rounded Corners 12"/>
          <p:cNvSpPr/>
          <p:nvPr/>
        </p:nvSpPr>
        <p:spPr>
          <a:xfrm>
            <a:off x="704880" y="346716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: Rounded Corners 13"/>
          <p:cNvSpPr/>
          <p:nvPr/>
        </p:nvSpPr>
        <p:spPr>
          <a:xfrm>
            <a:off x="933480" y="3695760"/>
            <a:ext cx="113760" cy="10184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14"/>
          <p:cNvSpPr/>
          <p:nvPr/>
        </p:nvSpPr>
        <p:spPr>
          <a:xfrm>
            <a:off x="1295280" y="3695760"/>
            <a:ext cx="376164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No-show control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5"/>
          <p:cNvSpPr/>
          <p:nvPr/>
        </p:nvSpPr>
        <p:spPr>
          <a:xfrm>
            <a:off x="1295280" y="4095720"/>
            <a:ext cx="380916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Five-minute watchdog closes empty rooms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and avoids unnecessary compute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: Rounded Corners 16"/>
          <p:cNvSpPr/>
          <p:nvPr/>
        </p:nvSpPr>
        <p:spPr>
          <a:xfrm>
            <a:off x="6134040" y="3467160"/>
            <a:ext cx="4857120" cy="1475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: Rounded Corners 17"/>
          <p:cNvSpPr/>
          <p:nvPr/>
        </p:nvSpPr>
        <p:spPr>
          <a:xfrm>
            <a:off x="6362640" y="3695760"/>
            <a:ext cx="113760" cy="10184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8"/>
          <p:cNvSpPr/>
          <p:nvPr/>
        </p:nvSpPr>
        <p:spPr>
          <a:xfrm>
            <a:off x="6724800" y="3695760"/>
            <a:ext cx="376164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Reliable handoff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19"/>
          <p:cNvSpPr/>
          <p:nvPr/>
        </p:nvSpPr>
        <p:spPr>
          <a:xfrm>
            <a:off x="6724800" y="4095720"/>
            <a:ext cx="380916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Outbox worker retries failed API calls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or n8n webhooks until processed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28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Deployment &amp; live demo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The deployment model separates the public frontend, API, data, realtime voice, and automation layers.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: Rounded Corners 4"/>
          <p:cNvSpPr/>
          <p:nvPr/>
        </p:nvSpPr>
        <p:spPr>
          <a:xfrm>
            <a:off x="685800" y="171468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5"/>
          <p:cNvSpPr/>
          <p:nvPr/>
        </p:nvSpPr>
        <p:spPr>
          <a:xfrm>
            <a:off x="838080" y="2000160"/>
            <a:ext cx="15040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6"/>
          <p:cNvSpPr/>
          <p:nvPr/>
        </p:nvSpPr>
        <p:spPr>
          <a:xfrm>
            <a:off x="876240" y="2571840"/>
            <a:ext cx="1466280" cy="7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http://talentpulse-vishwas.slicearrow.com/apply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traight Connector 7"/>
          <p:cNvSpPr/>
          <p:nvPr/>
        </p:nvSpPr>
        <p:spPr>
          <a:xfrm>
            <a:off x="2495520" y="2523960"/>
            <a:ext cx="34272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: Rounded Corners 8"/>
          <p:cNvSpPr/>
          <p:nvPr/>
        </p:nvSpPr>
        <p:spPr>
          <a:xfrm>
            <a:off x="2838600" y="171468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9"/>
          <p:cNvSpPr/>
          <p:nvPr/>
        </p:nvSpPr>
        <p:spPr>
          <a:xfrm>
            <a:off x="2990880" y="2000160"/>
            <a:ext cx="15040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Backend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10"/>
          <p:cNvSpPr/>
          <p:nvPr/>
        </p:nvSpPr>
        <p:spPr>
          <a:xfrm>
            <a:off x="3029040" y="2571840"/>
            <a:ext cx="142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Render · FastAPI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traight Connector 11"/>
          <p:cNvSpPr/>
          <p:nvPr/>
        </p:nvSpPr>
        <p:spPr>
          <a:xfrm>
            <a:off x="4647960" y="2523960"/>
            <a:ext cx="34308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: Rounded Corners 12"/>
          <p:cNvSpPr/>
          <p:nvPr/>
        </p:nvSpPr>
        <p:spPr>
          <a:xfrm>
            <a:off x="4991040" y="171468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13"/>
          <p:cNvSpPr/>
          <p:nvPr/>
        </p:nvSpPr>
        <p:spPr>
          <a:xfrm>
            <a:off x="5143680" y="2000160"/>
            <a:ext cx="15040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14"/>
          <p:cNvSpPr/>
          <p:nvPr/>
        </p:nvSpPr>
        <p:spPr>
          <a:xfrm>
            <a:off x="5181480" y="2571840"/>
            <a:ext cx="142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Supabase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traight Connector 15"/>
          <p:cNvSpPr/>
          <p:nvPr/>
        </p:nvSpPr>
        <p:spPr>
          <a:xfrm>
            <a:off x="6800760" y="2523960"/>
            <a:ext cx="34272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: Rounded Corners 16"/>
          <p:cNvSpPr/>
          <p:nvPr/>
        </p:nvSpPr>
        <p:spPr>
          <a:xfrm>
            <a:off x="7143840" y="171468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E9F1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17"/>
          <p:cNvSpPr/>
          <p:nvPr/>
        </p:nvSpPr>
        <p:spPr>
          <a:xfrm>
            <a:off x="7296120" y="2000160"/>
            <a:ext cx="15040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Voice worker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18"/>
          <p:cNvSpPr/>
          <p:nvPr/>
        </p:nvSpPr>
        <p:spPr>
          <a:xfrm>
            <a:off x="7334280" y="2571840"/>
            <a:ext cx="142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LiveKit Cloud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traight Connector 19"/>
          <p:cNvSpPr/>
          <p:nvPr/>
        </p:nvSpPr>
        <p:spPr>
          <a:xfrm>
            <a:off x="8953200" y="2523960"/>
            <a:ext cx="34308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: Rounded Corners 20"/>
          <p:cNvSpPr/>
          <p:nvPr/>
        </p:nvSpPr>
        <p:spPr>
          <a:xfrm>
            <a:off x="9296280" y="1714680"/>
            <a:ext cx="1809000" cy="161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21"/>
          <p:cNvSpPr/>
          <p:nvPr/>
        </p:nvSpPr>
        <p:spPr>
          <a:xfrm>
            <a:off x="9448920" y="2000160"/>
            <a:ext cx="150408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Automation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22"/>
          <p:cNvSpPr/>
          <p:nvPr/>
        </p:nvSpPr>
        <p:spPr>
          <a:xfrm>
            <a:off x="9487080" y="2571840"/>
            <a:ext cx="142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Self-hosted n8n · slicearrow.com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42"/>
          <p:cNvSpPr/>
          <p:nvPr/>
        </p:nvSpPr>
        <p:spPr>
          <a:xfrm>
            <a:off x="876240" y="4118760"/>
            <a:ext cx="1031112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Calibri"/>
              </a:rPr>
              <a:t>Built on a decoupled microservices architecture to ensure low-latency voice handling, secure storage, and resilient workflow automation.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Calibri"/>
              </a:rPr>
              <a:t>Live screening workflows can be experienced end-to-end directly via the active production deployment.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0"/>
          <p:cNvSpPr/>
          <p:nvPr/>
        </p:nvSpPr>
        <p:spPr>
          <a:xfrm>
            <a:off x="590400" y="361800"/>
            <a:ext cx="4946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"/>
          <p:cNvSpPr/>
          <p:nvPr/>
        </p:nvSpPr>
        <p:spPr>
          <a:xfrm>
            <a:off x="1181160" y="324000"/>
            <a:ext cx="9524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Future scope &amp; conclusion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2"/>
          <p:cNvSpPr/>
          <p:nvPr/>
        </p:nvSpPr>
        <p:spPr>
          <a:xfrm>
            <a:off x="1200240" y="800280"/>
            <a:ext cx="95241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TalentPulse AI turns first-round screening into a scalable, evidence-backed workflow.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traight Connector 3"/>
          <p:cNvSpPr/>
          <p:nvPr/>
        </p:nvSpPr>
        <p:spPr>
          <a:xfrm>
            <a:off x="590400" y="1161720"/>
            <a:ext cx="11010960" cy="360"/>
          </a:xfrm>
          <a:prstGeom prst="line">
            <a:avLst/>
          </a:prstGeom>
          <a:ln w="9360">
            <a:solidFill>
              <a:srgbClr val="D9E3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"/>
          <p:cNvSpPr/>
          <p:nvPr/>
        </p:nvSpPr>
        <p:spPr>
          <a:xfrm>
            <a:off x="304560" y="1733400"/>
            <a:ext cx="9704520" cy="2153520"/>
          </a:xfrm>
          <a:prstGeom prst="rect">
            <a:avLst/>
          </a:prstGeom>
          <a:solidFill>
            <a:srgbClr val="C8F2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533160" y="1911240"/>
            <a:ext cx="57600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 spc="-40">
                <a:solidFill>
                  <a:srgbClr val="000000"/>
                </a:solidFill>
                <a:effectLst/>
                <a:uFillTx/>
                <a:latin typeface="DM Sans Bold"/>
                <a:ea typeface="DM Sans Bold"/>
              </a:rPr>
              <a:t>Future scope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533160" y="2312640"/>
            <a:ext cx="8561520" cy="118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4920" indent="-30492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Regional-language interviews beyond Indian English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4920" indent="-30492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In-browser live coding assessment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4920" indent="-30492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ATS integrations with Greenhouse, Lever, and Workday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4920" indent="-30492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M Sans"/>
                <a:ea typeface="DM Sans"/>
              </a:rPr>
              <a:t>OAuth 2.0 and granular recruiter permissions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3774240" y="3903840"/>
            <a:ext cx="8105400" cy="2153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3947040" y="42465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 spc="-40">
                <a:solidFill>
                  <a:schemeClr val="dk1"/>
                </a:solidFill>
                <a:effectLst/>
                <a:uFillTx/>
                <a:latin typeface="DM Sans Bold"/>
                <a:ea typeface="DM Sans Bold"/>
              </a:rPr>
              <a:t>Conclusion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3947040" y="4647960"/>
            <a:ext cx="765360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TalentPulse AI combines real-time voice AI, FastAPI, Supabase, and n8n to reduce manual screening effort while keeping evaluation structured and traceable.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0413720" y="165240"/>
            <a:ext cx="169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16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2687866" y="2726685"/>
            <a:ext cx="10972080" cy="153888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0" b="0" u="none" strike="noStrike" dirty="0">
                <a:solidFill>
                  <a:schemeClr val="dk1"/>
                </a:solidFill>
                <a:effectLst/>
                <a:uFillTx/>
                <a:latin typeface="Comfortaa"/>
              </a:rPr>
              <a:t>Thank</a:t>
            </a:r>
            <a:r>
              <a:rPr lang="en-US" sz="10000" b="0" u="none" strike="noStrike" dirty="0">
                <a:solidFill>
                  <a:schemeClr val="bg1"/>
                </a:solidFill>
                <a:effectLst/>
                <a:highlight>
                  <a:srgbClr val="000080"/>
                </a:highlight>
                <a:uFillTx/>
                <a:latin typeface="Comfortaa"/>
              </a:rPr>
              <a:t>you</a:t>
            </a:r>
            <a:endParaRPr lang="en-US" sz="10000" b="0" u="none" strike="noStrike" dirty="0">
              <a:solidFill>
                <a:schemeClr val="bg1"/>
              </a:solidFill>
              <a:effectLst/>
              <a:highlight>
                <a:srgbClr val="000080"/>
              </a:highlight>
              <a:uFillTx/>
              <a:latin typeface="Arial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8937720" y="419400"/>
            <a:ext cx="4110840" cy="99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talentpulse.</a:t>
            </a:r>
            <a:r>
              <a:rPr lang="en-US" sz="3200" b="0" u="none" strike="noStrike">
                <a:solidFill>
                  <a:srgbClr val="000000"/>
                </a:solidFill>
                <a:effectLst/>
                <a:highlight>
                  <a:srgbClr val="3465A4"/>
                </a:highlight>
                <a:uFillTx/>
                <a:latin typeface="Comfortaa"/>
              </a:rPr>
              <a:t>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2414</Words>
  <Application>Microsoft Office PowerPoint</Application>
  <PresentationFormat>Widescreen</PresentationFormat>
  <Paragraphs>346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Aptos</vt:lpstr>
      <vt:lpstr>Arial</vt:lpstr>
      <vt:lpstr>Calibri</vt:lpstr>
      <vt:lpstr>Cambria</vt:lpstr>
      <vt:lpstr>Comfortaa</vt:lpstr>
      <vt:lpstr>DM Sans</vt:lpstr>
      <vt:lpstr>DM Sans Bold</vt:lpstr>
      <vt:lpstr>OpenSymbol</vt:lpstr>
      <vt:lpstr>Symbol</vt:lpstr>
      <vt:lpstr>Times New Roman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Priyadarshini S</cp:lastModifiedBy>
  <cp:revision>15</cp:revision>
  <dcterms:created xsi:type="dcterms:W3CDTF">2026-09-22T08:28:26Z</dcterms:created>
  <dcterms:modified xsi:type="dcterms:W3CDTF">2026-09-25T06:10:29Z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Widescreen</vt:lpwstr>
  </property>
  <property fmtid="{D5CDD505-2E9C-101B-9397-08002B2CF9AE}" pid="4" name="Slides">
    <vt:r8>10</vt:r8>
  </property>
</Properties>
</file>